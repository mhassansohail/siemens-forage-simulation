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8" r:id="rId4"/>
    <p:sldId id="266" r:id="rId5"/>
    <p:sldId id="272" r:id="rId6"/>
    <p:sldId id="261" r:id="rId7"/>
    <p:sldId id="262" r:id="rId8"/>
    <p:sldId id="263" r:id="rId9"/>
    <p:sldId id="259" r:id="rId10"/>
    <p:sldId id="264" r:id="rId11"/>
    <p:sldId id="267" r:id="rId12"/>
    <p:sldId id="265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4DA40-128E-4D5E-B06F-D083F3CD76E1}" v="99" dt="2026-06-11T02:42:37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9"/>
    <p:restoredTop sz="94724"/>
  </p:normalViewPr>
  <p:slideViewPr>
    <p:cSldViewPr snapToGrid="0">
      <p:cViewPr>
        <p:scale>
          <a:sx n="66" d="100"/>
          <a:sy n="66" d="100"/>
        </p:scale>
        <p:origin x="45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5C-4687-9770-64DB889B68B2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5C-4687-9770-64DB889B68B2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5C-4687-9770-64DB889B68B2}"/>
              </c:ext>
            </c:extLst>
          </c:dPt>
          <c:dPt>
            <c:idx val="3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5C-4687-9770-64DB889B68B2}"/>
              </c:ext>
            </c:extLst>
          </c:dPt>
          <c:dPt>
            <c:idx val="4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5C-4687-9770-64DB889B68B2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A5C-4687-9770-64DB889B68B2}"/>
              </c:ext>
            </c:extLst>
          </c:dPt>
          <c:dPt>
            <c:idx val="6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A5C-4687-9770-64DB889B68B2}"/>
              </c:ext>
            </c:extLst>
          </c:dPt>
          <c:dPt>
            <c:idx val="7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A5C-4687-9770-64DB889B68B2}"/>
              </c:ext>
            </c:extLst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A5C-4687-9770-64DB889B68B2}"/>
              </c:ext>
            </c:extLst>
          </c:dPt>
          <c:dPt>
            <c:idx val="9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A5C-4687-9770-64DB889B68B2}"/>
              </c:ext>
            </c:extLst>
          </c:dPt>
          <c:dPt>
            <c:idx val="10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CA5C-4687-9770-64DB889B68B2}"/>
              </c:ext>
            </c:extLst>
          </c:dPt>
          <c:dPt>
            <c:idx val="1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CA5C-4687-9770-64DB889B68B2}"/>
              </c:ext>
            </c:extLst>
          </c:dPt>
          <c:dPt>
            <c:idx val="12"/>
            <c:invertIfNegative val="0"/>
            <c:bubble3D val="0"/>
            <c:spPr>
              <a:solidFill>
                <a:srgbClr val="FFF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CA5C-4687-9770-64DB889B68B2}"/>
              </c:ext>
            </c:extLst>
          </c:dPt>
          <c:dPt>
            <c:idx val="13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CA5C-4687-9770-64DB889B68B2}"/>
              </c:ext>
            </c:extLst>
          </c:dPt>
          <c:dPt>
            <c:idx val="14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CA5C-4687-9770-64DB889B68B2}"/>
              </c:ext>
            </c:extLst>
          </c:dPt>
          <c:dPt>
            <c:idx val="15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CA5C-4687-9770-64DB889B68B2}"/>
              </c:ext>
            </c:extLst>
          </c:dPt>
          <c:dPt>
            <c:idx val="16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CA5C-4687-9770-64DB889B68B2}"/>
              </c:ext>
            </c:extLst>
          </c:dPt>
          <c:dPt>
            <c:idx val="17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CA5C-4687-9770-64DB889B68B2}"/>
              </c:ext>
            </c:extLst>
          </c:dPt>
          <c:dPt>
            <c:idx val="18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CA5C-4687-9770-64DB889B68B2}"/>
              </c:ext>
            </c:extLst>
          </c:dPt>
          <c:dPt>
            <c:idx val="19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CA5C-4687-9770-64DB889B68B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A5C-4687-9770-64DB889B68B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A5C-4687-9770-64DB889B68B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A5C-4687-9770-64DB889B68B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A5C-4687-9770-64DB889B68B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A5C-4687-9770-64DB889B68B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CA5C-4687-9770-64DB889B68B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CA5C-4687-9770-64DB889B68B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13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CA5C-4687-9770-64DB889B68B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CA5C-4687-9770-64DB889B68B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CA5C-4687-9770-64DB889B68B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CA5C-4687-9770-64DB889B68B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CA5C-4687-9770-64DB889B68B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CA5C-4687-9770-64DB889B68B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CA5C-4687-9770-64DB889B68B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CA5C-4687-9770-64DB889B68B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CA5C-4687-9770-64DB889B68B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CA5C-4687-9770-64DB889B68B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CA5C-4687-9770-64DB889B68B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S1</c:v>
                </c:pt>
                <c:pt idx="1">
                  <c:v>S2★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  <c:pt idx="12">
                  <c:v>S13</c:v>
                </c:pt>
                <c:pt idx="13">
                  <c:v>S14⭐</c:v>
                </c:pt>
                <c:pt idx="14">
                  <c:v>S15</c:v>
                </c:pt>
                <c:pt idx="15">
                  <c:v>S16</c:v>
                </c:pt>
                <c:pt idx="16">
                  <c:v>S17</c:v>
                </c:pt>
                <c:pt idx="17">
                  <c:v>S18</c:v>
                </c:pt>
                <c:pt idx="18">
                  <c:v>S19</c:v>
                </c:pt>
                <c:pt idx="19">
                  <c:v>S20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0.2</c:v>
                </c:pt>
                <c:pt idx="1">
                  <c:v>0.23</c:v>
                </c:pt>
                <c:pt idx="2">
                  <c:v>0.4</c:v>
                </c:pt>
                <c:pt idx="3">
                  <c:v>0.4</c:v>
                </c:pt>
                <c:pt idx="4">
                  <c:v>0.32</c:v>
                </c:pt>
                <c:pt idx="5">
                  <c:v>0.5</c:v>
                </c:pt>
                <c:pt idx="6">
                  <c:v>0.28999999999999998</c:v>
                </c:pt>
                <c:pt idx="7">
                  <c:v>0.26</c:v>
                </c:pt>
                <c:pt idx="8">
                  <c:v>0.31</c:v>
                </c:pt>
                <c:pt idx="9">
                  <c:v>0.37</c:v>
                </c:pt>
                <c:pt idx="10">
                  <c:v>0.36</c:v>
                </c:pt>
                <c:pt idx="11">
                  <c:v>0.34</c:v>
                </c:pt>
                <c:pt idx="12">
                  <c:v>0.38</c:v>
                </c:pt>
                <c:pt idx="13">
                  <c:v>0.7</c:v>
                </c:pt>
                <c:pt idx="14">
                  <c:v>0.11</c:v>
                </c:pt>
                <c:pt idx="15">
                  <c:v>0.61299999999999999</c:v>
                </c:pt>
                <c:pt idx="16">
                  <c:v>0.37</c:v>
                </c:pt>
                <c:pt idx="17">
                  <c:v>0.16</c:v>
                </c:pt>
                <c:pt idx="18">
                  <c:v>0.23</c:v>
                </c:pt>
                <c:pt idx="19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CA5C-4687-9770-64DB889B68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12079-4C32-4619-82F4-0793A8B798AD}" type="datetimeFigureOut">
              <a:rPr lang="en-AU" smtClean="0"/>
              <a:t>11/06/2026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27F0D-C128-4EBB-9AF7-2CF02024EE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69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099E-470C-E6D3-6629-4633AD4E9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80F98-7A44-95C1-4579-76E7073E8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CA968-1B78-1D4E-B593-6027C38F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88558-E0DF-C8DB-5FEA-898E9B0A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59E0-8482-1AB3-4D87-E44705A5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7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922F-144C-F594-1A5D-F3C47C14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62654-97C9-D456-603E-6D5A7166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1B35B-139F-D880-10DE-15BAB974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C61A-0F7E-2BF1-B157-25C1F62A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0E14E-29B7-9D66-5AB2-A8412F99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1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8654-FFFA-8382-E1F8-AE59D4BF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975D7-0044-2A64-3EF0-3A7FCFF9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8F19-5737-5D00-61DB-8E3808B3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91A4-7AE9-CB84-C9C2-8C32693D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C428F-B847-F746-4052-964E3962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4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9EA5-C5F0-CFA8-55C2-CAA7A8C0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0CEB-572E-2D13-36F8-A43EFBF55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636C2-80EC-9ABA-894A-02BB543A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003EC-871A-3593-5796-CFD56B81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6596C-5FA9-67C6-2622-0ECAA103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1445C-B187-4041-5089-BE90336D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3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F9FB-2F5D-A2BC-4811-82F8700B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5A3C9-0495-C1D7-6907-21782F479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BCE75-5063-4D03-8124-A3D07A905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B4CD3-5459-71AC-9652-AD5FED086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16637-71FF-169B-065C-468F6A453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447D5-BCF8-2FE8-6C11-AC25FE01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DFA51-20E4-8DC5-51F0-3B47D06C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04818-D97B-7729-3CFA-EA98C489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5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AB6C-C5B6-8FE1-078C-43AABE7D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9301B-09ED-DCF8-BAC2-6745351A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16C41-0DF1-EAC0-77FB-0A45F3E2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E1C02-B53F-5062-7106-A54B7F6F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4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D0981-C65D-BF7D-9398-3F198E30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E7B8ED-FA51-4C83-FCBC-A6F5A5C9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A771C-7AD7-E9BC-7D03-67ECBD70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05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B560-F678-F122-BE75-B8D06888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3F85-651A-D044-4005-819B942FA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3A8F8-996B-4748-7FBF-27A08421D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A4CCC-92C8-A3A7-C74B-44C8FE5A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BA0A9-E7D5-1161-50D6-DEC33AE7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D1BE4-189B-A680-9E5B-A1BBB9BF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85CB-40C0-27C1-35D9-67B5AC3C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D2609-7FDC-8ACB-C28E-7E2AC528B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E5DF3-1B22-AC28-63DD-824EC877A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5C65-02E4-951A-044F-D3F20061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8E86D-6375-2E3E-9AAF-3DE73D4F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2D8DE-B1B7-069A-1833-A0CEC0FA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7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3BBF-4B22-223F-AF5A-7E81D45E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E3563-1030-C370-07A0-3A9BCB57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613C-990E-14F2-8C3C-789BE6BF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3B09-7045-57D9-BA0A-95B0B0C3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C77A-3D2C-982B-870E-F1FFCDBD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3360F-B963-AF3C-6445-2D7A7D742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3AD43-B88C-6D26-0B64-8AAFC7748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C671-4791-F95B-09CC-C3610A0D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84E2B-DBB8-774E-B5AB-EA5A6DD0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4C99-027C-6BF6-A959-35B8E53C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11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9D0A8-045C-B797-A01E-5144B658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4845D-7B4A-2C01-2D74-9EEAA5E63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79F8F-33EC-47DF-2762-87EFE20E6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93137-80E6-8145-977E-3B7D2E039F1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3765-389B-2D70-7D2A-2BA2DF4C0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0FF6-1B19-6E18-188A-63062C7EF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C0542-8E53-D640-98E4-9A9D09229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02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640C-41EC-7D62-B148-2FE7019C6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Wheel Assembly Layout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3973B-F42D-466E-48AF-116650853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Project Velocity: Aurora Express</a:t>
            </a:r>
          </a:p>
        </p:txBody>
      </p:sp>
      <p:pic>
        <p:nvPicPr>
          <p:cNvPr id="4" name="Picture 2" descr="Siemens Logo and symbol, meaning, history, PNG, brand">
            <a:extLst>
              <a:ext uri="{FF2B5EF4-FFF2-40B4-BE49-F238E27FC236}">
                <a16:creationId xmlns:a16="http://schemas.microsoft.com/office/drawing/2014/main" id="{CE39136D-3507-8362-2A7A-5DC602E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470" y="2721330"/>
            <a:ext cx="4141760" cy="232974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7C6C223-57C0-9DAF-0CF1-308EFA839B9E}"/>
              </a:ext>
            </a:extLst>
          </p:cNvPr>
          <p:cNvSpPr txBox="1">
            <a:spLocks/>
          </p:cNvSpPr>
          <p:nvPr/>
        </p:nvSpPr>
        <p:spPr>
          <a:xfrm>
            <a:off x="8858953" y="6198447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Created By</a:t>
            </a:r>
            <a:br>
              <a:rPr lang="en-US" sz="2000" dirty="0"/>
            </a:br>
            <a:r>
              <a:rPr lang="en-US" sz="2000" dirty="0"/>
              <a:t>Muhammad Hassan Bin Sohail</a:t>
            </a:r>
          </a:p>
        </p:txBody>
      </p:sp>
    </p:spTree>
    <p:extLst>
      <p:ext uri="{BB962C8B-B14F-4D97-AF65-F5344CB8AC3E}">
        <p14:creationId xmlns:p14="http://schemas.microsoft.com/office/powerpoint/2010/main" val="49464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 Study Analysis Of Aurora Express Wheel Assembly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1: Time Study Methodology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5394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Time Study?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time study measures the time taken by a skilled operator to perform each step of a defined process at a standard pace. The goal is to identify inefficiencies, establish standard times, and pinpoint bottlenecks for improvement.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this task, a time study of the Aurora Express Wheel Assembly process is conducted. A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wheel assembly section there are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10 observations recorded for each of the 20 assembly steps.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Tools Used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(mean) duration per step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7823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to spread of observations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51297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Range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vs worst case per step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54772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(CV%) to check relative inconsistency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58247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Score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combine duration (70%)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CV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6480" y="1788607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Assembly Steps Studied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61120" y="1417320"/>
            <a:ext cx="2651760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0" y="1788607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per Step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26480" y="4023360"/>
            <a:ext cx="2651760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lvl="0" algn="ctr">
              <a:defRPr/>
            </a:pPr>
            <a:endParaRPr lang="en-US" sz="5400" dirty="0">
              <a:solidFill>
                <a:prstClr val="black"/>
              </a:solidFill>
            </a:endParaRPr>
          </a:p>
          <a:p>
            <a:pPr lvl="0" algn="ctr"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292608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0" y="4023360"/>
            <a:ext cx="2651760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0" y="4389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3,724 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Seconds per Cycle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5537910C-4BBE-D6F8-56DC-B22BA7F76F3C}"/>
              </a:ext>
            </a:extLst>
          </p:cNvPr>
          <p:cNvSpPr/>
          <p:nvPr/>
        </p:nvSpPr>
        <p:spPr>
          <a:xfrm>
            <a:off x="6126480" y="4389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01:02:04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Cycle Time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Statistical Analysis of All 20 Steps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" y="586834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Primary Bottleneck   ★ Removed in Task 2 proposed layout   Orange = High CV (&gt;10%)  </a:t>
            </a:r>
            <a:endParaRPr lang="en-US" sz="9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CBD9F8-215C-8D54-67F4-C5AD6F09448E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545992"/>
          <a:ext cx="10515599" cy="4301829"/>
        </p:xfrm>
        <a:graphic>
          <a:graphicData uri="http://schemas.openxmlformats.org/drawingml/2006/table">
            <a:tbl>
              <a:tblPr/>
              <a:tblGrid>
                <a:gridCol w="721850">
                  <a:extLst>
                    <a:ext uri="{9D8B030D-6E8A-4147-A177-3AD203B41FA5}">
                      <a16:colId xmlns:a16="http://schemas.microsoft.com/office/drawing/2014/main" val="3610989065"/>
                    </a:ext>
                  </a:extLst>
                </a:gridCol>
                <a:gridCol w="3062985">
                  <a:extLst>
                    <a:ext uri="{9D8B030D-6E8A-4147-A177-3AD203B41FA5}">
                      <a16:colId xmlns:a16="http://schemas.microsoft.com/office/drawing/2014/main" val="2557267335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3132649197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2727969170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3526536823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2807196424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2526215261"/>
                    </a:ext>
                  </a:extLst>
                </a:gridCol>
                <a:gridCol w="1121794">
                  <a:extLst>
                    <a:ext uri="{9D8B030D-6E8A-4147-A177-3AD203B41FA5}">
                      <a16:colId xmlns:a16="http://schemas.microsoft.com/office/drawing/2014/main" val="720334837"/>
                    </a:ext>
                  </a:extLst>
                </a:gridCol>
              </a:tblGrid>
              <a:tr h="2048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Step No.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Element Description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Avg (sec)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Avg (mm:ss)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Std Dev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Range(s)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CV (%)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 </a:t>
                      </a:r>
                    </a:p>
                  </a:txBody>
                  <a:tcPr marL="5853" marR="5853" marT="58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68974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Retrieve wheel components from storage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147.5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02:28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116273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Setup workspace and tools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01:39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913918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 components for defects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182.7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03:03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627507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Assemble hub to wheel frame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256.8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04:17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68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16659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Secure hub with bolts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02:48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9.07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0692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Lubricate wheel bearings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01:30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11.99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397562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 bearings into hub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188.3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03:08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8167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Attach wheel sensors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02:38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40091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Test sensor functionality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176.9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02:57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8.46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104993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Fit brake discs to hub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241.2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04:01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467005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 brake calipers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227.5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03:48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8.45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3.71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838241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Connect brake lines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213.3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03:33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153187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Bleed brake system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238.3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03:58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066809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Mount wheel to axle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324.5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05:25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028551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Secure wheel with locking mechanism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136.5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02:16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9.20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074768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Conduct wheel alignment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284.8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04:45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9.66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24503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 functional test of wheel assembly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191.8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03:12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10.25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5.34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977116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Clean assembly area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01:56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7.53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08890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Document assembly process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123.7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02:04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90888"/>
                  </a:ext>
                </a:extLst>
              </a:tr>
              <a:tr h="204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Transport assembly to next section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159.2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02:39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10.64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6.69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A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7.00</a:t>
                      </a:r>
                    </a:p>
                  </a:txBody>
                  <a:tcPr marL="5853" marR="5853" marT="585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350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419C454-3B2A-80DF-3C4F-3E427CE14BAF}"/>
              </a:ext>
            </a:extLst>
          </p:cNvPr>
          <p:cNvSpPr txBox="1"/>
          <p:nvPr/>
        </p:nvSpPr>
        <p:spPr>
          <a:xfrm>
            <a:off x="2638231" y="2734841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A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5EC5A-74B7-A8B8-EB02-EB481DF03CC8}"/>
              </a:ext>
            </a:extLst>
          </p:cNvPr>
          <p:cNvSpPr txBox="1"/>
          <p:nvPr/>
        </p:nvSpPr>
        <p:spPr>
          <a:xfrm>
            <a:off x="2638231" y="4366399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AU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0CED81-A5F8-FC50-684F-3774BAD2586C}"/>
              </a:ext>
            </a:extLst>
          </p:cNvPr>
          <p:cNvSpPr txBox="1"/>
          <p:nvPr/>
        </p:nvSpPr>
        <p:spPr>
          <a:xfrm>
            <a:off x="2778191" y="1914038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AU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Bottleneck Findings &amp; Root Cause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325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651760" cy="13258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cycle time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01:02:04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3724.3 seconds per 20 steps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51760" cy="132588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F4E79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steps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primary &amp; 3 secondary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651760" cy="132588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F4E79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10058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 of Cycle (Bottlenecks)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.40%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14, 6, 16, 4, 13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0" y="1005840"/>
            <a:ext cx="2651760" cy="132588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55A11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69680" y="100584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2468880"/>
            <a:ext cx="5806440" cy="4023360"/>
          </a:xfrm>
          <a:prstGeom prst="rect">
            <a:avLst/>
          </a:prstGeom>
          <a:solidFill>
            <a:srgbClr val="EBF3FB"/>
          </a:solidFill>
          <a:ln w="12700">
            <a:solidFill>
              <a:srgbClr val="B5D0EE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22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5 Steps by Duration + Actions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41148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30175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9400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14 - Mount wheel to axle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29400" y="32735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324.5s | Dedicated crane zone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72200" y="3685032"/>
            <a:ext cx="41148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36850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2940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6 - Lubricate wheel bearings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9400" y="39410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 |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lubrication via calibrated dispensing tool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(HIGH)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4352544"/>
            <a:ext cx="411480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72200" y="43525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43708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16</a:t>
            </a: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wheel assembly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29400" y="46085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264s |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mplement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-guided alignment system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(MEDIUM)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72200" y="5020056"/>
            <a:ext cx="41148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502005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29400" y="5038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hub to wheel frame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29400" y="5276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256s |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standardization (MEDIUM)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72200" y="5687568"/>
            <a:ext cx="41148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72200" y="5687568"/>
            <a:ext cx="411480" cy="502920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29400" y="5705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Bleed brake system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9400" y="5943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238.3s | SOP standardization (MEDIUM)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7B859828-ADD9-AE3B-D674-496264408AD7}"/>
              </a:ext>
            </a:extLst>
          </p:cNvPr>
          <p:cNvSpPr/>
          <p:nvPr/>
        </p:nvSpPr>
        <p:spPr>
          <a:xfrm>
            <a:off x="365760" y="2468880"/>
            <a:ext cx="5303520" cy="4023360"/>
          </a:xfrm>
          <a:prstGeom prst="rect">
            <a:avLst/>
          </a:prstGeom>
          <a:solidFill>
            <a:srgbClr val="FFF2CC"/>
          </a:solidFill>
          <a:ln w="12700">
            <a:solidFill>
              <a:srgbClr val="E6C02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29C756E-E3B0-6734-60B6-BF493D094736}"/>
              </a:ext>
            </a:extLst>
          </p:cNvPr>
          <p:cNvSpPr/>
          <p:nvPr/>
        </p:nvSpPr>
        <p:spPr>
          <a:xfrm>
            <a:off x="50292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Root cause Summary</a:t>
            </a:r>
            <a:endParaRPr lang="en-US" sz="14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C24A7BAC-6263-8AAE-CB5D-40DCD86D12A9}"/>
              </a:ext>
            </a:extLst>
          </p:cNvPr>
          <p:cNvSpPr/>
          <p:nvPr/>
        </p:nvSpPr>
        <p:spPr>
          <a:xfrm>
            <a:off x="50292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Why is mounting the slowest step?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36C1BACF-81B1-BBAE-A53A-233AC6DFD450}"/>
              </a:ext>
            </a:extLst>
          </p:cNvPr>
          <p:cNvSpPr/>
          <p:nvPr/>
        </p:nvSpPr>
        <p:spPr>
          <a:xfrm>
            <a:off x="502920" y="3337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dirty="0"/>
              <a:t>Shared crane creates a queue every single cycle</a:t>
            </a:r>
            <a:endParaRPr lang="en-US" sz="115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B9CD3AD8-DC76-E6D3-3773-E1068F3CA048}"/>
              </a:ext>
            </a:extLst>
          </p:cNvPr>
          <p:cNvSpPr/>
          <p:nvPr/>
        </p:nvSpPr>
        <p:spPr>
          <a:xfrm>
            <a:off x="5029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Why is lubrication so inconsistent?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2BAD6963-12A7-D9B8-04A0-8CD14F5BF615}"/>
              </a:ext>
            </a:extLst>
          </p:cNvPr>
          <p:cNvSpPr/>
          <p:nvPr/>
        </p:nvSpPr>
        <p:spPr>
          <a:xfrm>
            <a:off x="50292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dirty="0"/>
              <a:t>No calibrated tool; operator hand-applies with no fixed quantity</a:t>
            </a:r>
            <a:endParaRPr lang="en-US" sz="115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EEC48476-53D0-B035-CCA7-E72FB827156D}"/>
              </a:ext>
            </a:extLst>
          </p:cNvPr>
          <p:cNvSpPr/>
          <p:nvPr/>
        </p:nvSpPr>
        <p:spPr>
          <a:xfrm>
            <a:off x="5029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Why does alignment take so long?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B9E86749-4699-C9CC-89A8-785B6C1F3570}"/>
              </a:ext>
            </a:extLst>
          </p:cNvPr>
          <p:cNvSpPr/>
          <p:nvPr/>
        </p:nvSpPr>
        <p:spPr>
          <a:xfrm>
            <a:off x="50292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dirty="0"/>
              <a:t>Manual visual judgment with no precision tooling</a:t>
            </a:r>
            <a:endParaRPr lang="en-US" sz="115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779CD3CD-725B-77E6-D9B8-A61CE4A662B0}"/>
              </a:ext>
            </a:extLst>
          </p:cNvPr>
          <p:cNvSpPr/>
          <p:nvPr/>
        </p:nvSpPr>
        <p:spPr>
          <a:xfrm>
            <a:off x="502920" y="5623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Why do hub assembly and brake bleeding vary by operator? 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B4AABE80-9145-8408-DFFE-EF9BB6BA3E98}"/>
              </a:ext>
            </a:extLst>
          </p:cNvPr>
          <p:cNvSpPr/>
          <p:nvPr/>
        </p:nvSpPr>
        <p:spPr>
          <a:xfrm>
            <a:off x="502920" y="5943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AU" sz="1200" dirty="0"/>
              <a:t>No SOPs exist for either step; experience and informal training drive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Priority Score (Duration 70% + CV 30%)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949907385"/>
              </p:ext>
            </p:extLst>
          </p:nvPr>
        </p:nvGraphicFramePr>
        <p:xfrm>
          <a:off x="365760" y="960120"/>
          <a:ext cx="777240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960120"/>
            <a:ext cx="3429000" cy="5394960"/>
          </a:xfrm>
          <a:prstGeom prst="rect">
            <a:avLst/>
          </a:prstGeom>
          <a:noFill/>
          <a:ln w="12700">
            <a:solidFill>
              <a:srgbClr val="D0E4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49640" y="1051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49640" y="150876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 = (0.7 × Normalised Duration) + (0.3 × Normalised CV)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higher priority for improvement action.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14 (0.70) is the clear primary bottleneck — structural delay confirmed by low CV.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16 (0.61) is the second priority — duration + alignment variability.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6 (0.50) scores mid-range despite being the shortest step — its 12% CV makes it a consistency risk.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★ Step 2 is excluded in the proposed layout (assembly line setup removes per-cycle workspace setup).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8080" y="2743200"/>
            <a:ext cx="959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Reconfiguring Assembly Line Layout changes while implementing actions for recognized bottlenecks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9824F71-44C8-8E8F-632B-A0F4CB5315ED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8994A7-85C4-BA54-2F6B-12C9F10542CD}"/>
                </a:ext>
              </a:extLst>
            </p:cNvPr>
            <p:cNvSpPr/>
            <p:nvPr/>
          </p:nvSpPr>
          <p:spPr>
            <a:xfrm>
              <a:off x="892628" y="881154"/>
              <a:ext cx="10406743" cy="46917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6E7B52-1A74-2078-D64E-A6F564EDFED7}"/>
                </a:ext>
              </a:extLst>
            </p:cNvPr>
            <p:cNvSpPr/>
            <p:nvPr/>
          </p:nvSpPr>
          <p:spPr>
            <a:xfrm>
              <a:off x="11182916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9A85A9-06A6-D13D-AAD9-16798EAE54F5}"/>
                </a:ext>
              </a:extLst>
            </p:cNvPr>
            <p:cNvSpPr/>
            <p:nvPr/>
          </p:nvSpPr>
          <p:spPr>
            <a:xfrm>
              <a:off x="857915" y="5430793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CE06C0-1B6E-C1D2-8916-07D1EE2B57C7}"/>
                </a:ext>
              </a:extLst>
            </p:cNvPr>
            <p:cNvSpPr/>
            <p:nvPr/>
          </p:nvSpPr>
          <p:spPr>
            <a:xfrm>
              <a:off x="6014048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BBD365-E011-7F67-086E-CB968903C99B}"/>
                </a:ext>
              </a:extLst>
            </p:cNvPr>
            <p:cNvSpPr/>
            <p:nvPr/>
          </p:nvSpPr>
          <p:spPr>
            <a:xfrm>
              <a:off x="3412362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9FEF4F-6D8E-BF6A-D00F-3EA072ABC789}"/>
                </a:ext>
              </a:extLst>
            </p:cNvPr>
            <p:cNvSpPr/>
            <p:nvPr/>
          </p:nvSpPr>
          <p:spPr>
            <a:xfrm>
              <a:off x="8615734" y="543918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5F7654-238E-C9B1-5CC7-E12685E64D38}"/>
                </a:ext>
              </a:extLst>
            </p:cNvPr>
            <p:cNvSpPr/>
            <p:nvPr/>
          </p:nvSpPr>
          <p:spPr>
            <a:xfrm>
              <a:off x="11171416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CC45F0-E184-3D67-FDBA-895B9CBBC299}"/>
                </a:ext>
              </a:extLst>
            </p:cNvPr>
            <p:cNvSpPr/>
            <p:nvPr/>
          </p:nvSpPr>
          <p:spPr>
            <a:xfrm>
              <a:off x="846415" y="786923"/>
              <a:ext cx="1754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FAC4AF-228F-437E-7796-EE1D3568D01D}"/>
                </a:ext>
              </a:extLst>
            </p:cNvPr>
            <p:cNvSpPr/>
            <p:nvPr/>
          </p:nvSpPr>
          <p:spPr>
            <a:xfrm>
              <a:off x="6002548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0848DD-5276-DD09-008B-4C6A64E72AEB}"/>
                </a:ext>
              </a:extLst>
            </p:cNvPr>
            <p:cNvSpPr/>
            <p:nvPr/>
          </p:nvSpPr>
          <p:spPr>
            <a:xfrm>
              <a:off x="3400862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F0344B-9B7C-2B04-1F56-C25E0B20D3D9}"/>
                </a:ext>
              </a:extLst>
            </p:cNvPr>
            <p:cNvSpPr/>
            <p:nvPr/>
          </p:nvSpPr>
          <p:spPr>
            <a:xfrm>
              <a:off x="8604234" y="795318"/>
              <a:ext cx="163902" cy="2329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AF5773E-8BB4-D231-6BF1-181E433569E5}"/>
              </a:ext>
            </a:extLst>
          </p:cNvPr>
          <p:cNvSpPr/>
          <p:nvPr/>
        </p:nvSpPr>
        <p:spPr>
          <a:xfrm>
            <a:off x="1242204" y="1190445"/>
            <a:ext cx="9713343" cy="4088921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                                                                                  Work Area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A21BD3-1300-2E65-5BD4-1C59562C1FFD}"/>
              </a:ext>
            </a:extLst>
          </p:cNvPr>
          <p:cNvGrpSpPr/>
          <p:nvPr/>
        </p:nvGrpSpPr>
        <p:grpSpPr>
          <a:xfrm>
            <a:off x="2540279" y="818869"/>
            <a:ext cx="1275487" cy="4805356"/>
            <a:chOff x="6232383" y="818869"/>
            <a:chExt cx="1275487" cy="48053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966B3A-2AAE-475D-6368-FEDFB24F030F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32F748F-A5B8-AA6E-4186-EA59D18CA893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E6DACE-3601-E889-AE56-A4CC8641A9FF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58A4EB-5A2F-2EC6-DB56-7814ECED46A4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2C25284-64BC-ED1E-1D2C-9FB0C78D4848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47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32253-565B-F5ED-510B-F7577EC6E983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9824F71-44C8-8E8F-632B-A0F4CB5315ED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8994A7-85C4-BA54-2F6B-12C9F10542C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B6E7B52-1A74-2078-D64E-A6F564EDFED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9A85A9-06A6-D13D-AAD9-16798EAE54F5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CE06C0-1B6E-C1D2-8916-07D1EE2B57C7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6BBD365-E011-7F67-086E-CB968903C99B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9FEF4F-6D8E-BF6A-D00F-3EA072ABC789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5F7654-238E-C9B1-5CC7-E12685E64D38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CC45F0-E184-3D67-FDBA-895B9CBBC299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1FAC4AF-228F-437E-7796-EE1D3568D01D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0848DD-5276-DD09-008B-4C6A64E72AEB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F0344B-9B7C-2B04-1F56-C25E0B20D3D9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AF5773E-8BB4-D231-6BF1-181E433569E5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A61794-6854-6D30-48A0-D5EE95D1622B}"/>
              </a:ext>
            </a:extLst>
          </p:cNvPr>
          <p:cNvSpPr/>
          <p:nvPr/>
        </p:nvSpPr>
        <p:spPr>
          <a:xfrm>
            <a:off x="1245593" y="2139468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WHEEL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E18A07-3A25-FCB7-5A0C-C89773EC976A}"/>
              </a:ext>
            </a:extLst>
          </p:cNvPr>
          <p:cNvSpPr/>
          <p:nvPr/>
        </p:nvSpPr>
        <p:spPr>
          <a:xfrm>
            <a:off x="3339040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FDDD2-B965-38C3-16A4-1ABA5C26D29B}"/>
              </a:ext>
            </a:extLst>
          </p:cNvPr>
          <p:cNvSpPr/>
          <p:nvPr/>
        </p:nvSpPr>
        <p:spPr>
          <a:xfrm>
            <a:off x="8949087" y="1190444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E9521-6CAB-45D9-1E02-AC7120ECA3CB}"/>
              </a:ext>
            </a:extLst>
          </p:cNvPr>
          <p:cNvSpPr/>
          <p:nvPr/>
        </p:nvSpPr>
        <p:spPr>
          <a:xfrm>
            <a:off x="3339040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4B5392-BFDF-5F77-AEE9-CFF7B2F625C5}"/>
              </a:ext>
            </a:extLst>
          </p:cNvPr>
          <p:cNvSpPr/>
          <p:nvPr/>
        </p:nvSpPr>
        <p:spPr>
          <a:xfrm>
            <a:off x="5849462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A0E08A-0237-98B6-5252-B53420DBFF62}"/>
              </a:ext>
            </a:extLst>
          </p:cNvPr>
          <p:cNvGrpSpPr/>
          <p:nvPr/>
        </p:nvGrpSpPr>
        <p:grpSpPr>
          <a:xfrm>
            <a:off x="3339041" y="2948555"/>
            <a:ext cx="7607365" cy="1192356"/>
            <a:chOff x="3339041" y="2948555"/>
            <a:chExt cx="7607365" cy="1192356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6B02F5-2CB1-89D7-8132-55151808B045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0D56C52-D9E7-B355-AD00-454339D86010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6BE5E9-BBDF-665D-C2A2-B9F6955AD063}"/>
              </a:ext>
            </a:extLst>
          </p:cNvPr>
          <p:cNvGrpSpPr/>
          <p:nvPr/>
        </p:nvGrpSpPr>
        <p:grpSpPr>
          <a:xfrm>
            <a:off x="2541248" y="81257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33CEE53-C6E7-D521-5B1E-71F7110E6F36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C30DE63-7C9C-E2E0-34CA-39CF342CE73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695E45A-7AD6-4571-8181-2E271AEF2CDB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A215CF-A6D5-88AE-1EC5-6B1E572B2EA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B271722-D2D0-22DA-C434-38528A845E6F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3291F-705C-D193-BAC7-596441DF9152}"/>
              </a:ext>
            </a:extLst>
          </p:cNvPr>
          <p:cNvSpPr/>
          <p:nvPr/>
        </p:nvSpPr>
        <p:spPr>
          <a:xfrm>
            <a:off x="5847069" y="1498004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ASSEMBLY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64C29B-F8BD-E025-0E3B-F3B9D1166637}"/>
              </a:ext>
            </a:extLst>
          </p:cNvPr>
          <p:cNvSpPr txBox="1"/>
          <p:nvPr/>
        </p:nvSpPr>
        <p:spPr>
          <a:xfrm>
            <a:off x="4436372" y="2079120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741598-68BA-2B66-07BE-DB4F1164FF1E}"/>
              </a:ext>
            </a:extLst>
          </p:cNvPr>
          <p:cNvSpPr txBox="1"/>
          <p:nvPr/>
        </p:nvSpPr>
        <p:spPr>
          <a:xfrm>
            <a:off x="4445513" y="2286153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F8028-33A1-F7EE-6B29-70B88D12FB5D}"/>
              </a:ext>
            </a:extLst>
          </p:cNvPr>
          <p:cNvSpPr txBox="1"/>
          <p:nvPr/>
        </p:nvSpPr>
        <p:spPr>
          <a:xfrm>
            <a:off x="6945983" y="2078295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982E26-D80A-5490-FE6A-9233F346E7AF}"/>
              </a:ext>
            </a:extLst>
          </p:cNvPr>
          <p:cNvSpPr txBox="1"/>
          <p:nvPr/>
        </p:nvSpPr>
        <p:spPr>
          <a:xfrm>
            <a:off x="6953234" y="2270087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C87F5A-F0C1-82F0-3291-4553F7E41976}"/>
              </a:ext>
            </a:extLst>
          </p:cNvPr>
          <p:cNvSpPr txBox="1"/>
          <p:nvPr/>
        </p:nvSpPr>
        <p:spPr>
          <a:xfrm>
            <a:off x="4436372" y="4492721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CDAEA9-65DB-21E5-CACF-E0BB03074480}"/>
              </a:ext>
            </a:extLst>
          </p:cNvPr>
          <p:cNvSpPr txBox="1"/>
          <p:nvPr/>
        </p:nvSpPr>
        <p:spPr>
          <a:xfrm>
            <a:off x="4445513" y="4699754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67D8EA-5614-84FF-6E6A-99DFB499197C}"/>
              </a:ext>
            </a:extLst>
          </p:cNvPr>
          <p:cNvSpPr txBox="1"/>
          <p:nvPr/>
        </p:nvSpPr>
        <p:spPr>
          <a:xfrm>
            <a:off x="6969872" y="4468311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61:46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0B6305-7396-E6EA-9621-40AC3E3CB18B}"/>
              </a:ext>
            </a:extLst>
          </p:cNvPr>
          <p:cNvSpPr txBox="1"/>
          <p:nvPr/>
        </p:nvSpPr>
        <p:spPr>
          <a:xfrm>
            <a:off x="6979013" y="4675344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62:52</a:t>
            </a:r>
          </a:p>
        </p:txBody>
      </p:sp>
      <p:pic>
        <p:nvPicPr>
          <p:cNvPr id="36" name="Graphic 35" descr="Stopwatch with solid fill">
            <a:extLst>
              <a:ext uri="{FF2B5EF4-FFF2-40B4-BE49-F238E27FC236}">
                <a16:creationId xmlns:a16="http://schemas.microsoft.com/office/drawing/2014/main" id="{7E6C1DFC-611D-243A-DC40-1D211D447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5833" y="4572597"/>
            <a:ext cx="363748" cy="363748"/>
          </a:xfrm>
          <a:prstGeom prst="rect">
            <a:avLst/>
          </a:prstGeom>
        </p:spPr>
      </p:pic>
      <p:pic>
        <p:nvPicPr>
          <p:cNvPr id="37" name="Graphic 36" descr="Stopwatch with solid fill">
            <a:extLst>
              <a:ext uri="{FF2B5EF4-FFF2-40B4-BE49-F238E27FC236}">
                <a16:creationId xmlns:a16="http://schemas.microsoft.com/office/drawing/2014/main" id="{90F40C5B-0A3A-1023-E0E9-9280BC3E5D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5833" y="2157443"/>
            <a:ext cx="363748" cy="363748"/>
          </a:xfrm>
          <a:prstGeom prst="rect">
            <a:avLst/>
          </a:prstGeom>
        </p:spPr>
      </p:pic>
      <p:pic>
        <p:nvPicPr>
          <p:cNvPr id="39" name="Graphic 38" descr="Stopwatch with solid fill">
            <a:extLst>
              <a:ext uri="{FF2B5EF4-FFF2-40B4-BE49-F238E27FC236}">
                <a16:creationId xmlns:a16="http://schemas.microsoft.com/office/drawing/2014/main" id="{072D831C-5511-6BCC-BC41-04A45A866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2642" y="2153123"/>
            <a:ext cx="363748" cy="363748"/>
          </a:xfrm>
          <a:prstGeom prst="rect">
            <a:avLst/>
          </a:prstGeom>
        </p:spPr>
      </p:pic>
      <p:pic>
        <p:nvPicPr>
          <p:cNvPr id="40" name="Graphic 39" descr="Stopwatch with solid fill">
            <a:extLst>
              <a:ext uri="{FF2B5EF4-FFF2-40B4-BE49-F238E27FC236}">
                <a16:creationId xmlns:a16="http://schemas.microsoft.com/office/drawing/2014/main" id="{4C8BB86D-E454-3B10-B8DF-76427D737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0327" y="4539006"/>
            <a:ext cx="363748" cy="363748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7D6606F-9F89-820B-0A93-E8B17AA0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37"/>
            <a:ext cx="10515600" cy="894332"/>
          </a:xfrm>
        </p:spPr>
        <p:txBody>
          <a:bodyPr/>
          <a:lstStyle/>
          <a:p>
            <a:r>
              <a:rPr lang="en-US" dirty="0"/>
              <a:t>Original Layout</a:t>
            </a:r>
          </a:p>
        </p:txBody>
      </p:sp>
    </p:spTree>
    <p:extLst>
      <p:ext uri="{BB962C8B-B14F-4D97-AF65-F5344CB8AC3E}">
        <p14:creationId xmlns:p14="http://schemas.microsoft.com/office/powerpoint/2010/main" val="193352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2: Current Layout: How It Contributes to the Bottleneck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Layout (Clustered)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this layout: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0056" y="20115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Crane shared across all 4 stations → Step 14 always waits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" y="253746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flow → workers cross the floor between steps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4365" y="308789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Warehouse distant from assembly start → Step 1 travel 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4365" y="363832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 (setup) needed every cycle — pure non-value-added 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1005840"/>
            <a:ext cx="5623560" cy="5394960"/>
          </a:xfrm>
          <a:prstGeom prst="rect">
            <a:avLst/>
          </a:prstGeom>
          <a:solidFill>
            <a:srgbClr val="E2EFDA"/>
          </a:solidFill>
          <a:ln w="12700">
            <a:solidFill>
              <a:srgbClr val="92D05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55080" y="10972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75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Proposed Layout (Linear + Dedicated Crane)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1691640"/>
            <a:ext cx="822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06640" y="1691640"/>
            <a:ext cx="822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12480" y="1691640"/>
            <a:ext cx="1097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92640" y="1691640"/>
            <a:ext cx="1005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81360" y="1691640"/>
            <a:ext cx="640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17969" y="16916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75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00800" y="197967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crane zone for Step 14 → no more queue 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99643" y="245788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Linear product flow → zero cross-floor movement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00800" y="2936084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 eliminated → workstations permanently configured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99643" y="3592733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at process start → immediate component access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47">
            <a:extLst>
              <a:ext uri="{FF2B5EF4-FFF2-40B4-BE49-F238E27FC236}">
                <a16:creationId xmlns:a16="http://schemas.microsoft.com/office/drawing/2014/main" id="{9D43B0FC-481C-FC0A-09A4-E4DEA70CE427}"/>
              </a:ext>
            </a:extLst>
          </p:cNvPr>
          <p:cNvSpPr/>
          <p:nvPr/>
        </p:nvSpPr>
        <p:spPr>
          <a:xfrm>
            <a:off x="6417969" y="4144185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Inspection area is next to the warehouse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Step 3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47">
            <a:extLst>
              <a:ext uri="{FF2B5EF4-FFF2-40B4-BE49-F238E27FC236}">
                <a16:creationId xmlns:a16="http://schemas.microsoft.com/office/drawing/2014/main" id="{2EEE4DC6-8DA0-E13B-7B99-D27830F84AED}"/>
              </a:ext>
            </a:extLst>
          </p:cNvPr>
          <p:cNvSpPr/>
          <p:nvPr/>
        </p:nvSpPr>
        <p:spPr>
          <a:xfrm>
            <a:off x="6417969" y="457590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Finished product holding are is introduced → for Step 20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35F2-28EF-6179-854C-D9A81BC0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07E8CDD-FD91-8AC0-D949-F2599A445F11}"/>
              </a:ext>
            </a:extLst>
          </p:cNvPr>
          <p:cNvGrpSpPr/>
          <p:nvPr/>
        </p:nvGrpSpPr>
        <p:grpSpPr>
          <a:xfrm>
            <a:off x="846415" y="786923"/>
            <a:ext cx="10500403" cy="4885178"/>
            <a:chOff x="846415" y="786923"/>
            <a:chExt cx="10500403" cy="488517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FFD710B-8B61-236A-ED0A-834EA78E2B99}"/>
                </a:ext>
              </a:extLst>
            </p:cNvPr>
            <p:cNvGrpSpPr/>
            <p:nvPr/>
          </p:nvGrpSpPr>
          <p:grpSpPr>
            <a:xfrm>
              <a:off x="846415" y="786923"/>
              <a:ext cx="10500403" cy="4885178"/>
              <a:chOff x="846415" y="786923"/>
              <a:chExt cx="10500403" cy="48851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6EDFA73-F99B-B254-59DA-FC87F3C2C9AD}"/>
                  </a:ext>
                </a:extLst>
              </p:cNvPr>
              <p:cNvSpPr/>
              <p:nvPr/>
            </p:nvSpPr>
            <p:spPr>
              <a:xfrm>
                <a:off x="892628" y="881154"/>
                <a:ext cx="10406743" cy="46917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1C751A8-55EC-FE15-0C41-ABF6EBDC2CA7}"/>
                  </a:ext>
                </a:extLst>
              </p:cNvPr>
              <p:cNvSpPr/>
              <p:nvPr/>
            </p:nvSpPr>
            <p:spPr>
              <a:xfrm>
                <a:off x="11182916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5E4BE0C-E528-9565-F95C-7AD33E013718}"/>
                  </a:ext>
                </a:extLst>
              </p:cNvPr>
              <p:cNvSpPr/>
              <p:nvPr/>
            </p:nvSpPr>
            <p:spPr>
              <a:xfrm>
                <a:off x="857915" y="5430793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81ADE9-E382-469C-36C4-E7FC52D7529A}"/>
                  </a:ext>
                </a:extLst>
              </p:cNvPr>
              <p:cNvSpPr/>
              <p:nvPr/>
            </p:nvSpPr>
            <p:spPr>
              <a:xfrm>
                <a:off x="6014048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468198-4B94-ECCE-82F0-6AB869C4ADB7}"/>
                  </a:ext>
                </a:extLst>
              </p:cNvPr>
              <p:cNvSpPr/>
              <p:nvPr/>
            </p:nvSpPr>
            <p:spPr>
              <a:xfrm>
                <a:off x="3412362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A7E1B3-6CD1-CF97-5CCA-E0A982FF0E6C}"/>
                  </a:ext>
                </a:extLst>
              </p:cNvPr>
              <p:cNvSpPr/>
              <p:nvPr/>
            </p:nvSpPr>
            <p:spPr>
              <a:xfrm>
                <a:off x="8615734" y="543918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322CD2-602C-E244-CC1C-4DCEED32F113}"/>
                  </a:ext>
                </a:extLst>
              </p:cNvPr>
              <p:cNvSpPr/>
              <p:nvPr/>
            </p:nvSpPr>
            <p:spPr>
              <a:xfrm>
                <a:off x="11171416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31CD22-474E-4286-CE63-E14CE24CFE64}"/>
                  </a:ext>
                </a:extLst>
              </p:cNvPr>
              <p:cNvSpPr/>
              <p:nvPr/>
            </p:nvSpPr>
            <p:spPr>
              <a:xfrm>
                <a:off x="846415" y="786923"/>
                <a:ext cx="1754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E63042-AB1A-305A-28D1-8F014F5972EB}"/>
                  </a:ext>
                </a:extLst>
              </p:cNvPr>
              <p:cNvSpPr/>
              <p:nvPr/>
            </p:nvSpPr>
            <p:spPr>
              <a:xfrm>
                <a:off x="6002548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6DEC01-6833-B286-9C93-00910F6E25B0}"/>
                  </a:ext>
                </a:extLst>
              </p:cNvPr>
              <p:cNvSpPr/>
              <p:nvPr/>
            </p:nvSpPr>
            <p:spPr>
              <a:xfrm>
                <a:off x="3400862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339FAC1-3FE2-2333-DECE-C684E901403B}"/>
                  </a:ext>
                </a:extLst>
              </p:cNvPr>
              <p:cNvSpPr/>
              <p:nvPr/>
            </p:nvSpPr>
            <p:spPr>
              <a:xfrm>
                <a:off x="8604234" y="795318"/>
                <a:ext cx="163902" cy="2329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B8C79EA-6648-6A80-8DA9-E7EA2A6E4736}"/>
                </a:ext>
              </a:extLst>
            </p:cNvPr>
            <p:cNvSpPr/>
            <p:nvPr/>
          </p:nvSpPr>
          <p:spPr>
            <a:xfrm>
              <a:off x="1242204" y="1190445"/>
              <a:ext cx="9713343" cy="40889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ysClr val="windowText" lastClr="000000"/>
                  </a:solidFill>
                </a:rPr>
                <a:t>                                                                                 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DF7C7CB-FFCA-50BB-DC10-67774891934F}"/>
              </a:ext>
            </a:extLst>
          </p:cNvPr>
          <p:cNvSpPr/>
          <p:nvPr/>
        </p:nvSpPr>
        <p:spPr>
          <a:xfrm>
            <a:off x="1245593" y="2139468"/>
            <a:ext cx="1810932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4: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 Wheel press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19B82D-55C8-1F88-7228-12EDEEB1416B}"/>
              </a:ext>
            </a:extLst>
          </p:cNvPr>
          <p:cNvSpPr/>
          <p:nvPr/>
        </p:nvSpPr>
        <p:spPr>
          <a:xfrm>
            <a:off x="3339040" y="150100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3: Brake System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24A6E1-98EF-A6F3-4CEE-0D22DDD7E41D}"/>
              </a:ext>
            </a:extLst>
          </p:cNvPr>
          <p:cNvSpPr/>
          <p:nvPr/>
        </p:nvSpPr>
        <p:spPr>
          <a:xfrm>
            <a:off x="8949087" y="1190444"/>
            <a:ext cx="1997319" cy="2191109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3D902C-A292-C1A2-8503-173BF2896AF2}"/>
              </a:ext>
            </a:extLst>
          </p:cNvPr>
          <p:cNvSpPr/>
          <p:nvPr/>
        </p:nvSpPr>
        <p:spPr>
          <a:xfrm>
            <a:off x="3339040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5: Wheel Alignment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606E36-EB77-345F-C612-F2E511ABE25E}"/>
              </a:ext>
            </a:extLst>
          </p:cNvPr>
          <p:cNvSpPr/>
          <p:nvPr/>
        </p:nvSpPr>
        <p:spPr>
          <a:xfrm>
            <a:off x="5849462" y="3920340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6: Testing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69FBB3C-E343-FBD5-D388-6B43CD442B4F}"/>
              </a:ext>
            </a:extLst>
          </p:cNvPr>
          <p:cNvGrpSpPr/>
          <p:nvPr/>
        </p:nvGrpSpPr>
        <p:grpSpPr>
          <a:xfrm>
            <a:off x="3339041" y="2948555"/>
            <a:ext cx="7607365" cy="1192356"/>
            <a:chOff x="3339041" y="2948555"/>
            <a:chExt cx="7607365" cy="1192356"/>
          </a:xfrm>
          <a:solidFill>
            <a:srgbClr val="FFFF00">
              <a:alpha val="29804"/>
            </a:srgb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26F656-9DE2-AD6C-B7F2-7B59C893DC74}"/>
                </a:ext>
              </a:extLst>
            </p:cNvPr>
            <p:cNvSpPr/>
            <p:nvPr/>
          </p:nvSpPr>
          <p:spPr>
            <a:xfrm>
              <a:off x="3339041" y="2948555"/>
              <a:ext cx="50330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7186FD7-F86A-4176-B05E-8A4ADB9EE268}"/>
                </a:ext>
              </a:extLst>
            </p:cNvPr>
            <p:cNvSpPr/>
            <p:nvPr/>
          </p:nvSpPr>
          <p:spPr>
            <a:xfrm>
              <a:off x="7658001" y="3541375"/>
              <a:ext cx="3288405" cy="599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15A591-E649-CF66-A8FD-9C6B2D60B44D}"/>
              </a:ext>
            </a:extLst>
          </p:cNvPr>
          <p:cNvGrpSpPr/>
          <p:nvPr/>
        </p:nvGrpSpPr>
        <p:grpSpPr>
          <a:xfrm>
            <a:off x="2312894" y="805610"/>
            <a:ext cx="1275487" cy="4805356"/>
            <a:chOff x="6232383" y="818869"/>
            <a:chExt cx="1275487" cy="4805356"/>
          </a:xfrm>
          <a:solidFill>
            <a:schemeClr val="accent3">
              <a:lumMod val="60000"/>
              <a:lumOff val="40000"/>
              <a:alpha val="50196"/>
            </a:schemeClr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8B2CD89-2269-137A-E5EC-F821660060AA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3762B5-1721-D5AD-26D3-4EFBD4137CD3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E1CACD-AC12-8E1E-694E-ADDD25FAC40E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7B9FB34-B480-F32E-AE08-C9DB05B22C31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F18FAB3-438A-8C9D-DB0A-CDF0BAF89103}"/>
                </a:ext>
              </a:extLst>
            </p:cNvPr>
            <p:cNvSpPr/>
            <p:nvPr/>
          </p:nvSpPr>
          <p:spPr>
            <a:xfrm>
              <a:off x="6486234" y="2183949"/>
              <a:ext cx="788453" cy="62946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Dedicated Crane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C3ACC-2EAD-B22B-ED69-A721A57F2D07}"/>
              </a:ext>
            </a:extLst>
          </p:cNvPr>
          <p:cNvSpPr/>
          <p:nvPr/>
        </p:nvSpPr>
        <p:spPr>
          <a:xfrm>
            <a:off x="5847069" y="1498004"/>
            <a:ext cx="1810932" cy="1078302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2: Hub &amp; Wheel Assembly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4E3FC-AFC4-8AAC-20C5-61F6663A0079}"/>
              </a:ext>
            </a:extLst>
          </p:cNvPr>
          <p:cNvSpPr txBox="1"/>
          <p:nvPr/>
        </p:nvSpPr>
        <p:spPr>
          <a:xfrm>
            <a:off x="9835966" y="2585599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02:27</a:t>
            </a:r>
          </a:p>
        </p:txBody>
      </p:sp>
      <p:pic>
        <p:nvPicPr>
          <p:cNvPr id="36" name="Graphic 35" descr="Stopwatch with solid fill">
            <a:extLst>
              <a:ext uri="{FF2B5EF4-FFF2-40B4-BE49-F238E27FC236}">
                <a16:creationId xmlns:a16="http://schemas.microsoft.com/office/drawing/2014/main" id="{185C56AB-548C-B8EB-ECFB-C097680E9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2281" y="3556569"/>
            <a:ext cx="363748" cy="363748"/>
          </a:xfrm>
          <a:prstGeom prst="rect">
            <a:avLst/>
          </a:prstGeom>
        </p:spPr>
      </p:pic>
      <p:pic>
        <p:nvPicPr>
          <p:cNvPr id="37" name="Graphic 36" descr="Stopwatch with solid fill">
            <a:extLst>
              <a:ext uri="{FF2B5EF4-FFF2-40B4-BE49-F238E27FC236}">
                <a16:creationId xmlns:a16="http://schemas.microsoft.com/office/drawing/2014/main" id="{448E6ED5-9890-E424-709D-2D39D4300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2281" y="2591236"/>
            <a:ext cx="363748" cy="363748"/>
          </a:xfrm>
          <a:prstGeom prst="rect">
            <a:avLst/>
          </a:prstGeom>
        </p:spPr>
      </p:pic>
      <p:pic>
        <p:nvPicPr>
          <p:cNvPr id="39" name="Graphic 38" descr="Stopwatch with solid fill">
            <a:extLst>
              <a:ext uri="{FF2B5EF4-FFF2-40B4-BE49-F238E27FC236}">
                <a16:creationId xmlns:a16="http://schemas.microsoft.com/office/drawing/2014/main" id="{39BABFD9-6C79-7A1B-7442-A252A5B92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7311" y="2585470"/>
            <a:ext cx="363748" cy="363748"/>
          </a:xfrm>
          <a:prstGeom prst="rect">
            <a:avLst/>
          </a:prstGeom>
        </p:spPr>
      </p:pic>
      <p:pic>
        <p:nvPicPr>
          <p:cNvPr id="40" name="Graphic 39" descr="Stopwatch with solid fill">
            <a:extLst>
              <a:ext uri="{FF2B5EF4-FFF2-40B4-BE49-F238E27FC236}">
                <a16:creationId xmlns:a16="http://schemas.microsoft.com/office/drawing/2014/main" id="{A56754DF-0492-7865-59AA-AAFCBDFE7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0964" y="3556569"/>
            <a:ext cx="363748" cy="363748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14564DB-7BE6-C3A6-C35E-4B40E3F7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37"/>
            <a:ext cx="10515600" cy="894332"/>
          </a:xfrm>
        </p:spPr>
        <p:txBody>
          <a:bodyPr/>
          <a:lstStyle/>
          <a:p>
            <a:r>
              <a:rPr lang="en-US" dirty="0"/>
              <a:t>Proposed Layout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4E6C6C-8D42-56AC-566B-92EC49F2CBD2}"/>
              </a:ext>
            </a:extLst>
          </p:cNvPr>
          <p:cNvGrpSpPr/>
          <p:nvPr/>
        </p:nvGrpSpPr>
        <p:grpSpPr>
          <a:xfrm>
            <a:off x="4856360" y="809090"/>
            <a:ext cx="1275487" cy="4805356"/>
            <a:chOff x="6232383" y="818869"/>
            <a:chExt cx="1275487" cy="4805356"/>
          </a:xfrm>
          <a:solidFill>
            <a:srgbClr val="000000">
              <a:alpha val="50196"/>
            </a:srgb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968703F-058F-B605-C006-BF3E97447963}"/>
                </a:ext>
              </a:extLst>
            </p:cNvPr>
            <p:cNvSpPr/>
            <p:nvPr/>
          </p:nvSpPr>
          <p:spPr>
            <a:xfrm>
              <a:off x="6488087" y="872197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53E9B4-2D78-72C1-4B28-D27AC47D98B7}"/>
                </a:ext>
              </a:extLst>
            </p:cNvPr>
            <p:cNvSpPr/>
            <p:nvPr/>
          </p:nvSpPr>
          <p:spPr>
            <a:xfrm>
              <a:off x="7110621" y="872196"/>
              <a:ext cx="163903" cy="4691743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F60F39-1510-9E2A-E501-B161EF02FA47}"/>
                </a:ext>
              </a:extLst>
            </p:cNvPr>
            <p:cNvSpPr/>
            <p:nvPr/>
          </p:nvSpPr>
          <p:spPr>
            <a:xfrm rot="16200000">
              <a:off x="6804469" y="24699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EA4BEAC-E9C0-88B7-9C0B-7502DE8A2CC5}"/>
                </a:ext>
              </a:extLst>
            </p:cNvPr>
            <p:cNvSpPr/>
            <p:nvPr/>
          </p:nvSpPr>
          <p:spPr>
            <a:xfrm rot="16200000">
              <a:off x="6804259" y="4920823"/>
              <a:ext cx="131526" cy="1275277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17E9D55-0872-44E0-AB31-5E01F59F7591}"/>
                </a:ext>
              </a:extLst>
            </p:cNvPr>
            <p:cNvSpPr/>
            <p:nvPr/>
          </p:nvSpPr>
          <p:spPr>
            <a:xfrm>
              <a:off x="6550112" y="3016449"/>
              <a:ext cx="652945" cy="403236"/>
            </a:xfrm>
            <a:prstGeom prst="rect">
              <a:avLst/>
            </a:prstGeom>
            <a:grpFill/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Crane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30E10594-A36E-AD8D-AB12-9965C58137E6}"/>
              </a:ext>
            </a:extLst>
          </p:cNvPr>
          <p:cNvSpPr/>
          <p:nvPr/>
        </p:nvSpPr>
        <p:spPr>
          <a:xfrm>
            <a:off x="7754383" y="1498004"/>
            <a:ext cx="1118534" cy="923604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Setup &amp; Inspection station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E30A8C-CCA4-AC72-19A3-7A94215A6F9B}"/>
              </a:ext>
            </a:extLst>
          </p:cNvPr>
          <p:cNvSpPr/>
          <p:nvPr/>
        </p:nvSpPr>
        <p:spPr>
          <a:xfrm>
            <a:off x="8949087" y="4127586"/>
            <a:ext cx="1997319" cy="866947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Station 7: Finished product Holding Area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286DF6-EB7D-47C2-08E4-4C632979A04F}"/>
              </a:ext>
            </a:extLst>
          </p:cNvPr>
          <p:cNvSpPr/>
          <p:nvPr/>
        </p:nvSpPr>
        <p:spPr>
          <a:xfrm>
            <a:off x="7674266" y="4146950"/>
            <a:ext cx="1274821" cy="866947"/>
          </a:xfrm>
          <a:prstGeom prst="rect">
            <a:avLst/>
          </a:prstGeom>
          <a:solidFill>
            <a:srgbClr val="FFFF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EF08A4F-40AB-56D3-B9B6-655C3B3CFAF1}"/>
              </a:ext>
            </a:extLst>
          </p:cNvPr>
          <p:cNvCxnSpPr>
            <a:cxnSpLocks/>
          </p:cNvCxnSpPr>
          <p:nvPr/>
        </p:nvCxnSpPr>
        <p:spPr>
          <a:xfrm flipH="1">
            <a:off x="1021817" y="1362528"/>
            <a:ext cx="89177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E2ED1C5-ECAE-0A3F-A14A-0BD13B5A05D0}"/>
              </a:ext>
            </a:extLst>
          </p:cNvPr>
          <p:cNvCxnSpPr>
            <a:cxnSpLocks/>
          </p:cNvCxnSpPr>
          <p:nvPr/>
        </p:nvCxnSpPr>
        <p:spPr>
          <a:xfrm>
            <a:off x="1078000" y="5192192"/>
            <a:ext cx="891774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1AC986C-2206-2F09-F4F6-EAE4972A7A71}"/>
              </a:ext>
            </a:extLst>
          </p:cNvPr>
          <p:cNvCxnSpPr>
            <a:cxnSpLocks/>
          </p:cNvCxnSpPr>
          <p:nvPr/>
        </p:nvCxnSpPr>
        <p:spPr>
          <a:xfrm>
            <a:off x="1051416" y="1387670"/>
            <a:ext cx="23137" cy="38916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1326A91-7A08-D1B4-110C-4CD98D682488}"/>
              </a:ext>
            </a:extLst>
          </p:cNvPr>
          <p:cNvSpPr txBox="1"/>
          <p:nvPr/>
        </p:nvSpPr>
        <p:spPr>
          <a:xfrm>
            <a:off x="9729157" y="1947145"/>
            <a:ext cx="1487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665D9A-6F20-6C07-01E0-0F0FB2DC2316}"/>
              </a:ext>
            </a:extLst>
          </p:cNvPr>
          <p:cNvSpPr txBox="1"/>
          <p:nvPr/>
        </p:nvSpPr>
        <p:spPr>
          <a:xfrm>
            <a:off x="8030412" y="2154538"/>
            <a:ext cx="1487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91E527-CAF4-48EF-DD3E-89C318906DCF}"/>
              </a:ext>
            </a:extLst>
          </p:cNvPr>
          <p:cNvSpPr txBox="1"/>
          <p:nvPr/>
        </p:nvSpPr>
        <p:spPr>
          <a:xfrm>
            <a:off x="8180769" y="2574678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03:02</a:t>
            </a:r>
          </a:p>
        </p:txBody>
      </p:sp>
      <p:pic>
        <p:nvPicPr>
          <p:cNvPr id="88" name="Graphic 87" descr="Stopwatch with solid fill">
            <a:extLst>
              <a:ext uri="{FF2B5EF4-FFF2-40B4-BE49-F238E27FC236}">
                <a16:creationId xmlns:a16="http://schemas.microsoft.com/office/drawing/2014/main" id="{C27FDA6C-7CFC-11C5-970D-E202DDAC8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75789" y="2572020"/>
            <a:ext cx="363748" cy="36374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3A284476-64A8-4158-2DD6-CF082CC6CD6A}"/>
              </a:ext>
            </a:extLst>
          </p:cNvPr>
          <p:cNvSpPr txBox="1"/>
          <p:nvPr/>
        </p:nvSpPr>
        <p:spPr>
          <a:xfrm>
            <a:off x="6119232" y="2201862"/>
            <a:ext cx="1218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4 – Task 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F924C35-9D9C-6E98-7F40-3DCF03181178}"/>
              </a:ext>
            </a:extLst>
          </p:cNvPr>
          <p:cNvSpPr txBox="1">
            <a:spLocks/>
          </p:cNvSpPr>
          <p:nvPr/>
        </p:nvSpPr>
        <p:spPr>
          <a:xfrm>
            <a:off x="6521253" y="2591236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17:05</a:t>
            </a:r>
          </a:p>
        </p:txBody>
      </p:sp>
      <p:pic>
        <p:nvPicPr>
          <p:cNvPr id="98" name="Graphic 97" descr="Stopwatch with solid fill">
            <a:extLst>
              <a:ext uri="{FF2B5EF4-FFF2-40B4-BE49-F238E27FC236}">
                <a16:creationId xmlns:a16="http://schemas.microsoft.com/office/drawing/2014/main" id="{15AA35F1-D7A1-9648-DF62-CBDDAD392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0964" y="2581811"/>
            <a:ext cx="363748" cy="363748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78A1578C-617D-9CA0-2F49-E367F51E73ED}"/>
              </a:ext>
            </a:extLst>
          </p:cNvPr>
          <p:cNvSpPr txBox="1"/>
          <p:nvPr/>
        </p:nvSpPr>
        <p:spPr>
          <a:xfrm>
            <a:off x="3656921" y="2201862"/>
            <a:ext cx="1357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10 – Task 13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8A239E-BF62-18F4-3982-95724395811D}"/>
              </a:ext>
            </a:extLst>
          </p:cNvPr>
          <p:cNvSpPr txBox="1">
            <a:spLocks/>
          </p:cNvSpPr>
          <p:nvPr/>
        </p:nvSpPr>
        <p:spPr>
          <a:xfrm>
            <a:off x="4154859" y="2598067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15:08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6B9F220-15EC-BF79-0F74-625DD87A6019}"/>
              </a:ext>
            </a:extLst>
          </p:cNvPr>
          <p:cNvSpPr txBox="1"/>
          <p:nvPr/>
        </p:nvSpPr>
        <p:spPr>
          <a:xfrm>
            <a:off x="1736059" y="2190775"/>
            <a:ext cx="734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14</a:t>
            </a:r>
          </a:p>
          <a:p>
            <a:endParaRPr lang="en-AU" sz="1200" b="1" i="1" dirty="0">
              <a:solidFill>
                <a:srgbClr val="FF0000"/>
              </a:solidFill>
            </a:endParaRPr>
          </a:p>
        </p:txBody>
      </p:sp>
      <p:pic>
        <p:nvPicPr>
          <p:cNvPr id="110" name="Graphic 109" descr="Stopwatch with solid fill">
            <a:extLst>
              <a:ext uri="{FF2B5EF4-FFF2-40B4-BE49-F238E27FC236}">
                <a16:creationId xmlns:a16="http://schemas.microsoft.com/office/drawing/2014/main" id="{9FB189F9-139F-A0E7-64A8-2C3885ED7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8746" y="2590300"/>
            <a:ext cx="363748" cy="363748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55B2C5E0-1C1B-EACE-9F98-BC9EC8D4C63F}"/>
              </a:ext>
            </a:extLst>
          </p:cNvPr>
          <p:cNvSpPr txBox="1">
            <a:spLocks/>
          </p:cNvSpPr>
          <p:nvPr/>
        </p:nvSpPr>
        <p:spPr>
          <a:xfrm>
            <a:off x="1858467" y="2595543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04:36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341D41-A47A-0979-4A90-C936D6C0434C}"/>
              </a:ext>
            </a:extLst>
          </p:cNvPr>
          <p:cNvSpPr txBox="1"/>
          <p:nvPr/>
        </p:nvSpPr>
        <p:spPr>
          <a:xfrm>
            <a:off x="3656921" y="3946670"/>
            <a:ext cx="1357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15 – Task 16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FA06DEC-7CEA-836F-0511-9C8D96D34AD4}"/>
              </a:ext>
            </a:extLst>
          </p:cNvPr>
          <p:cNvSpPr txBox="1"/>
          <p:nvPr/>
        </p:nvSpPr>
        <p:spPr>
          <a:xfrm>
            <a:off x="6073713" y="3969556"/>
            <a:ext cx="1357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17 – Task 18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469D334-6BA0-F0EB-86EF-7E50DEBA5299}"/>
              </a:ext>
            </a:extLst>
          </p:cNvPr>
          <p:cNvSpPr txBox="1">
            <a:spLocks/>
          </p:cNvSpPr>
          <p:nvPr/>
        </p:nvSpPr>
        <p:spPr>
          <a:xfrm>
            <a:off x="4157884" y="3559252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06:39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9EE7BA-6D3F-EC6E-C533-EC2BA1FA91D2}"/>
              </a:ext>
            </a:extLst>
          </p:cNvPr>
          <p:cNvSpPr txBox="1">
            <a:spLocks/>
          </p:cNvSpPr>
          <p:nvPr/>
        </p:nvSpPr>
        <p:spPr>
          <a:xfrm>
            <a:off x="6521253" y="3576473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05:08</a:t>
            </a:r>
          </a:p>
        </p:txBody>
      </p:sp>
      <p:pic>
        <p:nvPicPr>
          <p:cNvPr id="124" name="Graphic 123" descr="Stopwatch with solid fill">
            <a:extLst>
              <a:ext uri="{FF2B5EF4-FFF2-40B4-BE49-F238E27FC236}">
                <a16:creationId xmlns:a16="http://schemas.microsoft.com/office/drawing/2014/main" id="{CF234422-890D-E2ED-C5D3-79099B33B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16903" y="3572691"/>
            <a:ext cx="363748" cy="363748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A7CAFA5E-DBCE-3308-AC6B-D4FEB98F0D14}"/>
              </a:ext>
            </a:extLst>
          </p:cNvPr>
          <p:cNvSpPr txBox="1"/>
          <p:nvPr/>
        </p:nvSpPr>
        <p:spPr>
          <a:xfrm>
            <a:off x="9825899" y="3576473"/>
            <a:ext cx="1121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02:39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A6FAA0-7288-75CD-87C2-B3C6729ECEEE}"/>
              </a:ext>
            </a:extLst>
          </p:cNvPr>
          <p:cNvSpPr txBox="1"/>
          <p:nvPr/>
        </p:nvSpPr>
        <p:spPr>
          <a:xfrm>
            <a:off x="9728596" y="4134098"/>
            <a:ext cx="1357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1" dirty="0">
                <a:solidFill>
                  <a:srgbClr val="FF0000"/>
                </a:solidFill>
              </a:rPr>
              <a:t>Task 20</a:t>
            </a:r>
          </a:p>
        </p:txBody>
      </p:sp>
    </p:spTree>
    <p:extLst>
      <p:ext uri="{BB962C8B-B14F-4D97-AF65-F5344CB8AC3E}">
        <p14:creationId xmlns:p14="http://schemas.microsoft.com/office/powerpoint/2010/main" val="424716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Impact Summary &amp; Implementation Plan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C0000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14 — Dedicated Crane (PRIMARY)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005840"/>
            <a:ext cx="3474720" cy="128016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375623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~9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 Eliminated (Assembly Line)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63840" y="1005840"/>
            <a:ext cx="3977640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1F4E79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0" y="100584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~198.79s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 Per Unit (~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39496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E6C02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Before: 01:</a:t>
            </a:r>
            <a:r>
              <a:rPr lang="en-US" sz="1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2:04 (3,724 sec)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Original 20-step clustered layout with shared crane and per-cycle workspace setup.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2423160"/>
            <a:ext cx="5715000" cy="1463040"/>
          </a:xfrm>
          <a:prstGeom prst="rect">
            <a:avLst/>
          </a:prstGeom>
          <a:solidFill>
            <a:srgbClr val="E2EFDA"/>
          </a:solidFill>
          <a:ln w="12700">
            <a:solidFill>
              <a:srgbClr val="92D050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5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After: ~56:</a:t>
            </a: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75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(3,404 sec)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294436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19-step linear layout: Step 2 removed, dedicated crane zone, linear product flow.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11430000" cy="2697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F5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Plan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26517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1 (Weeks 1–2)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5029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Space modelling &amp; simulation; validate proposed layout digitally before any physical changes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37560" y="4572000"/>
            <a:ext cx="2651760" cy="4114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2 (Weeks 3–4)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37560" y="5029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on SOPs; install calibrated lubrication dispensing tool (Step 6 CV fix)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2651760" cy="4114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3 (Weeks 5–6)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72200" y="5029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reorganisation over planned weekend shutdown; establish dedicated crane zone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4572000"/>
            <a:ext cx="265176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06840" y="4572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4 (Weeks 7–8)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06840" y="5029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time study; measure all 19 steps vs baseline; confirm ~167s saving per unit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E2AF9916-60D7-D0AC-6C99-86812DF3551D}"/>
              </a:ext>
            </a:extLst>
          </p:cNvPr>
          <p:cNvSpPr/>
          <p:nvPr/>
        </p:nvSpPr>
        <p:spPr>
          <a:xfrm>
            <a:off x="548640" y="1005840"/>
            <a:ext cx="10972800" cy="569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AU" sz="1000" b="1" dirty="0">
                <a:solidFill>
                  <a:srgbClr val="002060"/>
                </a:solidFill>
              </a:rPr>
              <a:t>Books &amp; Textbooks</a:t>
            </a:r>
            <a:endParaRPr lang="en-AU" sz="1000" dirty="0">
              <a:solidFill>
                <a:srgbClr val="002060"/>
              </a:solidFill>
            </a:endParaRPr>
          </a:p>
          <a:p>
            <a:r>
              <a:rPr lang="en-AU" sz="1000" b="1" dirty="0"/>
              <a:t>1.  Hopp, W. J., &amp; Spearman, M. L. </a:t>
            </a:r>
            <a:r>
              <a:rPr lang="en-AU" sz="1000" dirty="0"/>
              <a:t>(2011). </a:t>
            </a:r>
            <a:r>
              <a:rPr lang="en-AU" sz="1000" i="1" dirty="0"/>
              <a:t>Factory Physics (3rd ed.). </a:t>
            </a:r>
            <a:r>
              <a:rPr lang="en-AU" sz="1000" dirty="0"/>
              <a:t>Waveland Press.  —  When a shared crane is converted to a dedicated resource, queuing delay is eliminated. Reducing resource utilisation from ~90% to ~70% by dedicating a resource cuts average queue time by 50–75%. Applied to Step 14.</a:t>
            </a:r>
          </a:p>
          <a:p>
            <a:pPr>
              <a:lnSpc>
                <a:spcPct val="150000"/>
              </a:lnSpc>
            </a:pPr>
            <a:r>
              <a:rPr lang="en-AU" sz="1000" b="1" dirty="0">
                <a:solidFill>
                  <a:srgbClr val="002060"/>
                </a:solidFill>
              </a:rPr>
              <a:t>Journal Articles &amp; Conference Papers</a:t>
            </a:r>
            <a:endParaRPr lang="en-AU" sz="1000" dirty="0">
              <a:solidFill>
                <a:srgbClr val="002060"/>
              </a:solidFill>
            </a:endParaRPr>
          </a:p>
          <a:p>
            <a:r>
              <a:rPr lang="en-AU" sz="1000" b="1" dirty="0"/>
              <a:t>2.  Antil, P., &amp; Budhiraja, N. </a:t>
            </a:r>
            <a:r>
              <a:rPr lang="en-AU" sz="1000" dirty="0"/>
              <a:t>(2013). </a:t>
            </a:r>
            <a:r>
              <a:rPr lang="en-AU" sz="1000" i="1" dirty="0"/>
              <a:t>Process variability reduction through tooling and fixture modification. </a:t>
            </a:r>
            <a:r>
              <a:rPr lang="en-AU" sz="1000" dirty="0"/>
              <a:t>International Journal of Engineering Research and Applications, 3(4), 1–6.  —  Modifying tools and fixtures reduced rejection rate and improved production consistency — mechanism being elimination of operator-dependent variation. A 30–40% CV reduction for a manual dispensing step is consistent with this class of improvement. Applied to Step 6.</a:t>
            </a:r>
          </a:p>
          <a:p>
            <a:r>
              <a:rPr lang="en-AU" sz="1000" b="1" dirty="0"/>
              <a:t>3.  Diaz, R., et al. </a:t>
            </a:r>
            <a:r>
              <a:rPr lang="en-AU" sz="1000" dirty="0"/>
              <a:t>(2017). </a:t>
            </a:r>
            <a:r>
              <a:rPr lang="en-AU" sz="1000" i="1" dirty="0"/>
              <a:t>Cycle time study for aircraft wing spar assembly with guided alignment tools. </a:t>
            </a:r>
            <a:r>
              <a:rPr lang="en-AU" sz="1000" dirty="0"/>
              <a:t>Journal of Manufacturing Systems.  —  Introducing guided alignment tools replacing manual judgment reduced alignment cycle time by up to 20%. A conservative 10–15% is applied to Step 16 given wheel assembly is a simpler geometry than wing spar.</a:t>
            </a:r>
          </a:p>
          <a:p>
            <a:r>
              <a:rPr lang="en-AU" sz="1000" b="1" dirty="0"/>
              <a:t>4.  Kumar, S., &amp; Kumar, S. </a:t>
            </a:r>
            <a:r>
              <a:rPr lang="en-AU" sz="1000" dirty="0"/>
              <a:t>(2014). </a:t>
            </a:r>
            <a:r>
              <a:rPr lang="en-AU" sz="1000" i="1" dirty="0"/>
              <a:t>Reduction of cycle time in truck body assembly using lean principles. </a:t>
            </a:r>
            <a:r>
              <a:rPr lang="en-AU" sz="1000" dirty="0"/>
              <a:t>International Journal of Industrial Engineering, 21(3), 112–124.  —  Implementing standardised work instructions reduced cycle time at individual assembly stations — primary mechanism being elimination of operator hesitation and rework. A 5–8% reduction per step is consistent with SOP-only interventions. Applied to Steps 4 and 13.</a:t>
            </a:r>
          </a:p>
          <a:p>
            <a:r>
              <a:rPr lang="en-AU" sz="1000" b="1" dirty="0"/>
              <a:t>5.  </a:t>
            </a:r>
            <a:r>
              <a:rPr lang="en-AU" sz="1000" b="1" dirty="0" err="1"/>
              <a:t>Lathashankar</a:t>
            </a:r>
            <a:r>
              <a:rPr lang="en-AU" sz="1000" b="1" dirty="0"/>
              <a:t>, et al. </a:t>
            </a:r>
            <a:r>
              <a:rPr lang="en-AU" sz="1000" dirty="0"/>
              <a:t>(2018). </a:t>
            </a:r>
            <a:r>
              <a:rPr lang="en-AU" sz="1000" i="1" dirty="0"/>
              <a:t>Cycle time reduction in a 4-ton compactor assembly using dedicated fixtures. </a:t>
            </a:r>
            <a:r>
              <a:rPr lang="en-AU" sz="1000" dirty="0"/>
              <a:t>International Journal of Innovative Research in Science, Engineering and Technology.  —  Introducing a dedicated fixture reduced front chassis cycle time by 20% and rear chassis by 18% — mechanism identical to replacing shared, unscheduled lifting equipment with a dedicated setup. Applied to Step 14.</a:t>
            </a:r>
          </a:p>
          <a:p>
            <a:r>
              <a:rPr lang="en-AU" sz="1000" b="1" dirty="0"/>
              <a:t>6.  Malik, A., et al. </a:t>
            </a:r>
            <a:r>
              <a:rPr lang="en-AU" sz="1000" dirty="0"/>
              <a:t>(2011). </a:t>
            </a:r>
            <a:r>
              <a:rPr lang="en-AU" sz="1000" i="1" dirty="0"/>
              <a:t>Industrial engineering cycle reduction techniques focused on equipment allocation. </a:t>
            </a:r>
            <a:r>
              <a:rPr lang="en-AU" sz="1000" dirty="0"/>
              <a:t>Journal of Engineering and Applied Sciences, 6(8), 1–7.  —  After implementing equipment allocation improvements, production time was reduced by 24%. A 15–20% estimate for a single step is therefore conservative relative to this precedent. Applied to Step 14.</a:t>
            </a:r>
          </a:p>
          <a:p>
            <a:r>
              <a:rPr lang="en-AU" sz="1000" b="1" dirty="0"/>
              <a:t>7.  Mishra, R. </a:t>
            </a:r>
            <a:r>
              <a:rPr lang="en-AU" sz="1000" dirty="0"/>
              <a:t>(2015). </a:t>
            </a:r>
            <a:r>
              <a:rPr lang="en-AU" sz="1000" i="1" dirty="0"/>
              <a:t>Productivity improvement through method study in automobile assembly. </a:t>
            </a:r>
            <a:r>
              <a:rPr lang="en-AU" sz="1000" dirty="0"/>
              <a:t>International Journal of Engineering and Management Research, 5(2), 308–312.  —  Standardisation and documented SOPs achieved meaningful cycle time reduction — confirming procedural interventions alone yield 5–10% gains without capital tooling changes. Applied to Steps 4 and 13.</a:t>
            </a:r>
          </a:p>
          <a:p>
            <a:r>
              <a:rPr lang="en-AU" sz="1000" b="1" dirty="0"/>
              <a:t>8.  Naveen, K., &amp; Ramesh Babu, T. </a:t>
            </a:r>
            <a:r>
              <a:rPr lang="en-AU" sz="1000" dirty="0"/>
              <a:t>(2015). </a:t>
            </a:r>
            <a:r>
              <a:rPr lang="en-AU" sz="1000" i="1" dirty="0"/>
              <a:t>Cause-and-effect analysis and corrective tooling in manual assembly. </a:t>
            </a:r>
            <a:r>
              <a:rPr lang="en-AU" sz="1000" dirty="0"/>
              <a:t>International Journal of Advanced Manufacturing Technology, 78(1–4), 341–352.  —  Production rate improvement of 10–18% documented using corrective tooling on manual assembly steps. Laser alignment is a stronger intervention, so 10–15% is conservative. Applied to Step 16.</a:t>
            </a:r>
          </a:p>
          <a:p>
            <a:r>
              <a:rPr lang="en-AU" sz="1000" b="1" dirty="0"/>
              <a:t>9.  Shayea, A., et al. </a:t>
            </a:r>
            <a:r>
              <a:rPr lang="en-AU" sz="1000" dirty="0"/>
              <a:t>(2011). </a:t>
            </a:r>
            <a:r>
              <a:rPr lang="en-AU" sz="1000" i="1" dirty="0"/>
              <a:t>Productivity improvement model without increasing operation risk and fatigue. </a:t>
            </a:r>
            <a:r>
              <a:rPr lang="en-AU" sz="1000" dirty="0"/>
              <a:t>Journal of Applied Sciences, 11(16), 2909–2916.  —  Formalising procedure on safety-sensitive steps reduces both time and error rate simultaneously — key mechanism being reduced cognitive load on operators. Applied to Step 13 (brake bleed).</a:t>
            </a:r>
          </a:p>
          <a:p>
            <a:pPr>
              <a:lnSpc>
                <a:spcPct val="150000"/>
              </a:lnSpc>
            </a:pPr>
            <a:r>
              <a:rPr lang="en-AU" sz="1000" b="1" dirty="0">
                <a:solidFill>
                  <a:srgbClr val="002060"/>
                </a:solidFill>
              </a:rPr>
              <a:t>Standards &amp; Technical Documents</a:t>
            </a:r>
            <a:endParaRPr lang="en-AU" sz="1000" dirty="0">
              <a:solidFill>
                <a:srgbClr val="002060"/>
              </a:solidFill>
            </a:endParaRPr>
          </a:p>
          <a:p>
            <a:r>
              <a:rPr lang="en-AU" sz="1000" b="1" dirty="0"/>
              <a:t>10.  ISO </a:t>
            </a:r>
            <a:r>
              <a:rPr lang="en-AU" sz="1000" dirty="0"/>
              <a:t>(2022). </a:t>
            </a:r>
            <a:r>
              <a:rPr lang="en-AU" sz="1000" i="1" dirty="0"/>
              <a:t>ISO 8655: Piston-operated volumetric apparatus — requirements and test methods. </a:t>
            </a:r>
            <a:r>
              <a:rPr lang="en-AU" sz="1000" dirty="0"/>
              <a:t>International Organisation for Standardisation.  —  Calibrated dispensing tools reduce inter-operator CV from 10–15% down to 2–5%. A 30–40% reduction in CV is a conservative estimate. Applied to Step 6 (lubrication standardisation).</a:t>
            </a:r>
          </a:p>
          <a:p>
            <a:r>
              <a:rPr lang="en-AU" sz="1000" b="1" dirty="0"/>
              <a:t>11.  SKF Group &amp; Schaeffler Group </a:t>
            </a:r>
            <a:r>
              <a:rPr lang="en-AU" sz="1000" dirty="0"/>
              <a:t>(Various). </a:t>
            </a:r>
            <a:r>
              <a:rPr lang="en-AU" sz="1000" i="1" dirty="0"/>
              <a:t>Bearing maintenance and lubrication engineering guides. </a:t>
            </a:r>
            <a:r>
              <a:rPr lang="en-AU" sz="1000" dirty="0"/>
              <a:t>SKF / Schaeffler technical documentation.  —  Inconsistent grease quantity is the leading cause of premature bearing failure in wheel assemblies. Standardising to a calibrated dispenser is classified as a low-cost, high-impact intervention. Applied to Step 6.</a:t>
            </a:r>
          </a:p>
          <a:p>
            <a:r>
              <a:rPr lang="en-AU" sz="1000" b="1" dirty="0"/>
              <a:t>12.  </a:t>
            </a:r>
            <a:r>
              <a:rPr lang="en-AU" sz="1000" b="1" dirty="0" err="1"/>
              <a:t>Thermo</a:t>
            </a:r>
            <a:r>
              <a:rPr lang="en-AU" sz="1000" b="1" dirty="0"/>
              <a:t> Fisher Scientific </a:t>
            </a:r>
            <a:r>
              <a:rPr lang="en-AU" sz="1000" dirty="0"/>
              <a:t>(Various). </a:t>
            </a:r>
            <a:r>
              <a:rPr lang="en-AU" sz="1000" i="1" dirty="0"/>
              <a:t>Pipetting and dispensing application notes — calibrated tool performance data. </a:t>
            </a:r>
            <a:r>
              <a:rPr lang="en-AU" sz="1000" dirty="0" err="1"/>
              <a:t>Thermo</a:t>
            </a:r>
            <a:r>
              <a:rPr lang="en-AU" sz="1000" dirty="0"/>
              <a:t> Fisher Scientific technical documentation.  —  Switching from manual to calibrated automated dispensing tools reduces inter-operator CV from 10–15% down to 2–5%. Applied to Step 6 as supporting evidence for lubrication CV reduction target.</a:t>
            </a:r>
          </a:p>
          <a:p>
            <a:r>
              <a:rPr lang="en-AU" sz="1000" b="1" dirty="0"/>
              <a:t>13.  Toyota Motor Corporation </a:t>
            </a:r>
            <a:r>
              <a:rPr lang="en-AU" sz="1000" dirty="0"/>
              <a:t>(Various). </a:t>
            </a:r>
            <a:r>
              <a:rPr lang="en-AU" sz="1000" i="1" dirty="0"/>
              <a:t>Toyota Production System — standardised work for fluid-fill and bleed operations. </a:t>
            </a:r>
            <a:r>
              <a:rPr lang="en-AU" sz="1000" dirty="0"/>
              <a:t>Toyota OEM documentation (publicly referenced in TPS literature).  —  Standardised work sequences for bleed operations reduce cycle time variance by 30–50% and mean time by 5–10% by eliminating redundant passes and hesitation time. Applied to Step 13.</a:t>
            </a:r>
          </a:p>
          <a:p>
            <a:r>
              <a:rPr lang="en-AU" sz="1000" dirty="0"/>
              <a:t> </a:t>
            </a:r>
          </a:p>
          <a:p>
            <a:r>
              <a:rPr lang="en-AU" sz="1000" b="1" i="1" dirty="0">
                <a:solidFill>
                  <a:srgbClr val="002060"/>
                </a:solidFill>
              </a:rPr>
              <a:t>Note: </a:t>
            </a:r>
            <a:r>
              <a:rPr lang="en-AU" sz="1000" i="1" dirty="0"/>
              <a:t>Percentage estimates are directional benchmarks derived from the principles and findings in the above references, not verbatim figures extracted from a single page. Before formal submission, verify edition details and page numbers via Google Scholar, Wiley Online Library, or your university library database.</a:t>
            </a:r>
            <a:endParaRPr lang="en-AU" sz="1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2169</Words>
  <Application>Microsoft Office PowerPoint</Application>
  <PresentationFormat>Widescreen</PresentationFormat>
  <Paragraphs>381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Office Theme</vt:lpstr>
      <vt:lpstr>1_Office Theme</vt:lpstr>
      <vt:lpstr>Wheel Assembly Layout Proposal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Original Layout</vt:lpstr>
      <vt:lpstr>PowerPoint Presentation</vt:lpstr>
      <vt:lpstr>Proposed Layout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 Assembly Layout Proposal</dc:title>
  <dc:creator>Garrett Chappell</dc:creator>
  <cp:lastModifiedBy>Muhammad Hassan Bin Sohail</cp:lastModifiedBy>
  <cp:revision>3</cp:revision>
  <dcterms:created xsi:type="dcterms:W3CDTF">2024-04-03T01:40:44Z</dcterms:created>
  <dcterms:modified xsi:type="dcterms:W3CDTF">2026-06-11T03:08:56Z</dcterms:modified>
</cp:coreProperties>
</file>